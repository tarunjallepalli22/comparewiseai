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-274320"/>
            <a:ext cx="1828800" cy="18288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57200" y="4114800"/>
            <a:ext cx="1828800" cy="18288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256032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1B33"/>
                </a:solidFill>
              </a:rPr>
              <a:t>ENTERPRISE AI PLATFORM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CompareWise AI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Intelligence Platform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· Compare · Decide — 100% Offline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C39A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Manual Procurement Is Broken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2743200" cy="2926080"/>
          </a:xfrm>
          <a:prstGeom prst="rect">
            <a:avLst/>
          </a:prstGeom>
          <a:solidFill>
            <a:srgbClr val="0A2A4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00200"/>
            <a:ext cx="27432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7373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2423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Time-Consuming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292608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BDD1"/>
                </a:solidFill>
              </a:rPr>
              <a:t>Teams spend weeks manually reading &amp; comparing lengthy vendor proposals.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1600200"/>
            <a:ext cx="2743200" cy="2926080"/>
          </a:xfrm>
          <a:prstGeom prst="rect">
            <a:avLst/>
          </a:prstGeom>
          <a:solidFill>
            <a:srgbClr val="0A2A4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600200"/>
            <a:ext cx="27432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7373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37560" y="2423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Error-Prone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292608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BDD1"/>
                </a:solidFill>
              </a:rPr>
              <a:t>Human-led comparison misses hidden risk clauses and normalisation errors.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1600200"/>
            <a:ext cx="2743200" cy="2926080"/>
          </a:xfrm>
          <a:prstGeom prst="rect">
            <a:avLst/>
          </a:prstGeom>
          <a:solidFill>
            <a:srgbClr val="0A2A4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600200"/>
            <a:ext cx="27432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7373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☁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309360" y="2423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Privacy Risk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46520" y="292608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BDD1"/>
                </a:solidFill>
              </a:rPr>
              <a:t>Cloud AI tools expose sensitive procurement data to external servers.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C39A"/>
                </a:solidFill>
              </a:rPr>
              <a:t>SOLUTION &amp; OBJECTIVES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CompareWise AI Delivers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594360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80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1B33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298448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C"/>
                </a:solidFill>
              </a:rPr>
              <a:t>Automated Extraction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157276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278"/>
                </a:solidFill>
              </a:rPr>
              <a:t>Auto-extracts cost, timeline, SLAs, deliverables &amp; risks from PDF/DOCX/XLSX proposals.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468880"/>
            <a:ext cx="594360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468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1B33"/>
                </a:solidFill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487168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C"/>
                </a:solidFill>
              </a:rPr>
              <a:t>100% Data Privacy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276148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278"/>
                </a:solidFill>
              </a:rPr>
              <a:t>All AI processing runs entirely on-device using local LLMs — no cloud data exposure.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657600"/>
            <a:ext cx="594360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657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1B33"/>
                </a:solidFill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3675888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C"/>
                </a:solidFill>
              </a:rPr>
              <a:t>Side-by-Side Comparison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395020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278"/>
                </a:solidFill>
              </a:rPr>
              <a:t>Clear, actionable executive comparison dashboard to accelerate vendor decision-making.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C39A"/>
                </a:solidFill>
              </a:rPr>
              <a:t>CORE TECHNOLOGIES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Built with the Right Stack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64008" cy="1600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371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</a:rPr>
              <a:t>Python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30352" y="1856232"/>
            <a:ext cx="1280160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8562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1B33"/>
                </a:solidFill>
              </a:rPr>
              <a:t>Core Backend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216712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278"/>
                </a:solidFill>
              </a:rPr>
              <a:t>File processing, async ops, API routing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23444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234440"/>
            <a:ext cx="64008" cy="1600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10912" y="1371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</a:rPr>
              <a:t>FastAPI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10912" y="1856232"/>
            <a:ext cx="1280160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10912" y="18562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1B33"/>
                </a:solidFill>
              </a:rPr>
              <a:t>Web Framework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10912" y="216712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278"/>
                </a:solidFill>
              </a:rPr>
              <a:t>High-performance API endpoints &amp; file serving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017520"/>
            <a:ext cx="64008" cy="1600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1546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</a:rPr>
              <a:t>Ollama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</a:rPr>
              <a:t>(Llama 3.2)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30352" y="3639312"/>
            <a:ext cx="1280160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6393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1B33"/>
                </a:solidFill>
              </a:rPr>
              <a:t>Local AI Engine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0352" y="395020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278"/>
                </a:solidFill>
              </a:rPr>
              <a:t>On-device LLM — zero data leakage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301752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3017520"/>
            <a:ext cx="64008" cy="1600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0912" y="31546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</a:rPr>
              <a:t>Vanilla JS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</a:rPr>
              <a:t>+ HTML/CSS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010912" y="3639312"/>
            <a:ext cx="1280160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36393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1B33"/>
                </a:solidFill>
              </a:rPr>
              <a:t>Frontend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10912" y="395020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278"/>
                </a:solidFill>
              </a:rPr>
              <a:t>Glassmorphism UI, drag-drop, progress tracking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C39A"/>
                </a:solidFill>
              </a:rPr>
              <a:t>KEY FEATURES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6 Powerful Capabilities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743200" cy="1508760"/>
          </a:xfrm>
          <a:prstGeom prst="rect">
            <a:avLst/>
          </a:prstGeom>
          <a:solidFill>
            <a:srgbClr val="0A2A4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63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Multi-Format Parsing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2677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DD1"/>
                </a:solidFill>
              </a:rPr>
              <a:t>PDF, DOCX &amp; XLSX ingestion engine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743200" cy="1508760"/>
          </a:xfrm>
          <a:prstGeom prst="rect">
            <a:avLst/>
          </a:prstGeom>
          <a:solidFill>
            <a:srgbClr val="0A2A4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463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8328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AI Metric Extraction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22677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DD1"/>
                </a:solidFill>
              </a:rPr>
              <a:t>Normalized cost, timeline, SLA values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2743200" cy="1508760"/>
          </a:xfrm>
          <a:prstGeom prst="rect">
            <a:avLst/>
          </a:prstGeom>
          <a:solidFill>
            <a:srgbClr val="0A2A4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463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30936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Risk Clause Detection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22677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DD1"/>
                </a:solidFill>
              </a:rPr>
              <a:t>Flags liabilities &amp; hidden fees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063240"/>
            <a:ext cx="2743200" cy="1508760"/>
          </a:xfrm>
          <a:prstGeom prst="rect">
            <a:avLst/>
          </a:prstGeom>
          <a:solidFill>
            <a:srgbClr val="0A2A4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154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7200" y="3611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Executive Summaries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9593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DD1"/>
                </a:solidFill>
              </a:rPr>
              <a:t>AI-driven pros/cons &amp; recommendation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91840" y="3063240"/>
            <a:ext cx="2743200" cy="1508760"/>
          </a:xfrm>
          <a:prstGeom prst="rect">
            <a:avLst/>
          </a:prstGeom>
          <a:solidFill>
            <a:srgbClr val="0A2A4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3154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383280" y="3611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Smart File Caching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83280" y="39593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DD1"/>
                </a:solidFill>
              </a:rPr>
              <a:t>MD5 hash cache — 0.01s on re-upload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3063240"/>
            <a:ext cx="2743200" cy="1508760"/>
          </a:xfrm>
          <a:prstGeom prst="rect">
            <a:avLst/>
          </a:prstGeom>
          <a:solidFill>
            <a:srgbClr val="0A2A4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3154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309360" y="3611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Vendor Recommendations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09360" y="39593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DD1"/>
                </a:solidFill>
              </a:rPr>
              <a:t>Pre-loaded best-in-class proposals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C39A"/>
                </a:solidFill>
              </a:rPr>
              <a:t>TECHNICAL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4-Layer System Design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64008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4358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</a:rPr>
              <a:t>Frontend Layer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278"/>
                </a:solidFill>
              </a:rPr>
              <a:t>Vanilla JS SPA · Drag-drop upload · Simulated progress · Dynamic comparison tables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148840"/>
            <a:ext cx="64008" cy="8046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0370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</a:rPr>
              <a:t>Backend Layer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53288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278"/>
                </a:solidFill>
              </a:rPr>
              <a:t>FastAPI · multipart/form-data · asyncio.to_thread for non-blocking LLM calls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10896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108960"/>
            <a:ext cx="64008" cy="8046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16382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</a:rPr>
              <a:t>AI / Logic Layer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49300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278"/>
                </a:solidFill>
              </a:rPr>
              <a:t>Ollama on port 11434 · JSON-constrained prompts · Llama 3.2 local inference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06908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4069080"/>
            <a:ext cx="64008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12394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</a:rPr>
              <a:t>Data / Storage Layer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45312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278"/>
                </a:solidFill>
              </a:rPr>
              <a:t>No external DB · In-memory MD5 cache · Session persistence only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C39A"/>
                </a:solidFill>
              </a:rPr>
              <a:t>USE CASES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Real-World Applications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41148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4128" y="139903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</a:rPr>
              <a:t>Enterprise Procurement &amp; RFP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89280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278"/>
                </a:solidFill>
              </a:rPr>
              <a:t>Drag-and-drop RFP responses → instant normalized comparison matrix. Weeks → minutes.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23444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234440"/>
            <a:ext cx="41148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504688" y="139903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</a:rPr>
              <a:t>IT Software Vendor Selection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89280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278"/>
                </a:solidFill>
              </a:rPr>
              <a:t>Compare complex SLAs, licensing fees &amp; implementation timelines. Spot hidden costs.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017520"/>
            <a:ext cx="41148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24128" y="318211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</a:rPr>
              <a:t>Event Management &amp; Logistics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67588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278"/>
                </a:solidFill>
              </a:rPr>
              <a:t>Compare Stage, Decor, Food &amp; Photography vendors simultaneously for best budget.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301752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3017520"/>
            <a:ext cx="41148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04688" y="318211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</a:rPr>
              <a:t>Legal &amp; Risk Mitigation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83480" y="367588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278"/>
                </a:solidFill>
              </a:rPr>
              <a:t>First-pass filter to highlight unfavorable clauses before deep manual legal review.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C39A"/>
                </a:solidFill>
              </a:rPr>
              <a:t>PROJECT WORKFLOW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6 Development Milestones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43000" y="1417320"/>
            <a:ext cx="45720" cy="3383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426464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4264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33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08760" y="1444752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E8F2"/>
                </a:solidFill>
              </a:rPr>
              <a:t>Requirement Analysis &amp; System Design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2002536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0025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33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08760" y="2020824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E8F2"/>
                </a:solidFill>
              </a:rPr>
              <a:t>Environment Setup &amp; Dependencies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0120" y="2578608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578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33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08760" y="2596896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E8F2"/>
                </a:solidFill>
              </a:rPr>
              <a:t>Core Development (Parser, AI Engine, API)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60120" y="3154680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33"/>
                </a:solidFill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08760" y="3172968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E8F2"/>
                </a:solidFill>
              </a:rPr>
              <a:t>Frontend &amp; UI (Glassmorphism, Drag-Drop)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60120" y="3730752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730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33"/>
                </a:solidFill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508760" y="3749040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E8F2"/>
                </a:solidFill>
              </a:rPr>
              <a:t>Optimization (Caching, Async Threading)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60120" y="4306824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3068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33"/>
                </a:solidFill>
              </a:rPr>
              <a:t>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508760" y="4325112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E8F2"/>
                </a:solidFill>
              </a:rPr>
              <a:t>Deployment &amp; Final Setup (Uvicorn)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C39A"/>
                </a:solidFill>
              </a:rPr>
              <a:t>RESULTS &amp; PERFORMANCE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Measurable Outcomes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27432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173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65A82"/>
                </a:solidFill>
              </a:rPr>
              <a:t>~45s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278"/>
                </a:solidFill>
              </a:rPr>
              <a:t>Standard processing time per document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23444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234440"/>
            <a:ext cx="27432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4173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65A82"/>
                </a:solidFill>
              </a:rPr>
              <a:t>0.01s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383280" y="2148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278"/>
                </a:solidFill>
              </a:rPr>
              <a:t>Cache hit response time (re-uploads)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23444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234440"/>
            <a:ext cx="27432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4173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65A82"/>
                </a:solidFill>
              </a:rPr>
              <a:t>100%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309360" y="2148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278"/>
                </a:solidFill>
              </a:rPr>
              <a:t>Data privacy — zero cloud exposure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30175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</a:rPr>
              <a:t>Advantages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54880" y="30175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6278"/>
                </a:solidFill>
              </a:rPr>
              <a:t>Limitations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65760" y="34290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Absolute Privacy — no data leaves device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8404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Cost Effective — no recurring API fees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2519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Highly Responsive UX with progress tracking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34290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020"/>
                </a:solidFill>
              </a:rPr>
              <a:t>!  </a:t>
            </a:r>
            <a:pPr indent="0" marL="0">
              <a:buNone/>
            </a:pPr>
            <a:r>
              <a:rPr lang="en-US" sz="1100" dirty="0">
                <a:solidFill>
                  <a:srgbClr val="4A6278"/>
                </a:solidFill>
              </a:rPr>
              <a:t>Hardware-dependent processing speed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38404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020"/>
                </a:solidFill>
              </a:rPr>
              <a:t>!  </a:t>
            </a:r>
            <a:pPr indent="0" marL="0">
              <a:buNone/>
            </a:pPr>
            <a:r>
              <a:rPr lang="en-US" sz="1100" dirty="0">
                <a:solidFill>
                  <a:srgbClr val="4A6278"/>
                </a:solidFill>
              </a:rPr>
              <a:t>Context limits with 500+ page PDFs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C39A"/>
                </a:solidFill>
              </a:rPr>
              <a:t>FUTURE ENHANCEMENTS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What's Next for CompareWise AI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1051560"/>
          </a:xfrm>
          <a:prstGeom prst="rect">
            <a:avLst/>
          </a:prstGeom>
          <a:solidFill>
            <a:srgbClr val="0A2A4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34440" y="15270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</a:rPr>
              <a:t>Vector DB Integration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1920240"/>
            <a:ext cx="7406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DD1"/>
                </a:solidFill>
              </a:rPr>
              <a:t>ChromaDB / FAISS for RAG — enabling efficient processing of 500+ page documents.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606040"/>
            <a:ext cx="8412480" cy="1051560"/>
          </a:xfrm>
          <a:prstGeom prst="rect">
            <a:avLst/>
          </a:prstGeom>
          <a:solidFill>
            <a:srgbClr val="0A2A4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34440" y="27157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</a:rPr>
              <a:t>AI Negotiation Letters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108960"/>
            <a:ext cx="7406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DD1"/>
                </a:solidFill>
              </a:rPr>
              <a:t>Auto-generate customized email responses and negotiation letters based on AI findings.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794760"/>
            <a:ext cx="8412480" cy="1051560"/>
          </a:xfrm>
          <a:prstGeom prst="rect">
            <a:avLst/>
          </a:prstGeom>
          <a:solidFill>
            <a:srgbClr val="0A2A4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977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📥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34440" y="390448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</a:rPr>
              <a:t>Email Inbox Automation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4297680"/>
            <a:ext cx="7406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DD1"/>
                </a:solidFill>
              </a:rPr>
              <a:t>Auto-download, parse, and compare incoming vendor proposals without manual upload.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474720"/>
            <a:ext cx="2286000" cy="22860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C39A"/>
                </a:solidFill>
              </a:rPr>
              <a:t>CONCLUSION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CompareWise AI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</a:rPr>
              <a:t>Smarter Procurement Decisions,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</a:rPr>
              <a:t>Completely On-Device.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6583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✓</a:t>
            </a:r>
            <a:pPr indent="0" marL="0">
              <a:buNone/>
            </a:pPr>
            <a:r>
              <a:rPr lang="en-US" sz="1400" dirty="0">
                <a:solidFill>
                  <a:srgbClr val="D0E8F2"/>
                </a:solidFill>
              </a:rPr>
              <a:t>  Automates weeks of manual work into minutes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✓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0E8F2"/>
                </a:solidFill>
              </a:rPr>
              <a:t>  Guarantees 100% data privacy with local AI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✓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0E8F2"/>
                </a:solidFill>
              </a:rPr>
              <a:t>  Delivers clear, actionable vendor comparisons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CompareWise AI</dc:title>
  <dc:subject>PptxGenJS Presentation</dc:subject>
  <dc:creator>PptxGenJS</dc:creator>
  <cp:lastModifiedBy>PptxGenJS</cp:lastModifiedBy>
  <cp:revision>1</cp:revision>
  <dcterms:created xsi:type="dcterms:W3CDTF">2026-05-03T16:57:38Z</dcterms:created>
  <dcterms:modified xsi:type="dcterms:W3CDTF">2026-05-03T16:57:38Z</dcterms:modified>
</cp:coreProperties>
</file>